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20040" cy="6803136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54864" cy="685800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1274552" cy="36576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0080"/>
            <a:ext cx="1005840" cy="475488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0080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OAP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62179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alibri"/>
              </a:rPr>
              <a:t>OLIST ANALYTICS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From Raw Data to
Revenue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An end-to-end modern data platform built on BigQuery, dbt, Dagster and Python — converting 99,441 Olist orders into executive-ready business intelligence.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4251960"/>
            <a:ext cx="7315200" cy="0"/>
          </a:xfrm>
          <a:prstGeom prst="line">
            <a:avLst/>
          </a:prstGeom>
          <a:ln w="6350">
            <a:solidFill>
              <a:srgbClr val="4A5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Module 2 Data Engineering &amp; Analytics Assignment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54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F80"/>
                </a:solidFill>
                <a:latin typeface="Calibri"/>
              </a:rPr>
              <a:t>Duration: 10 min + 5 min Q&amp;A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548640"/>
            <a:ext cx="1417320" cy="86868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548640"/>
            <a:ext cx="1417320" cy="45720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658368"/>
            <a:ext cx="11978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R$15.8M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1051560"/>
            <a:ext cx="1307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Total GMV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517904"/>
            <a:ext cx="1417320" cy="86868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517904"/>
            <a:ext cx="1417320" cy="457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0768" y="1627632"/>
            <a:ext cx="11978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99,441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2020824"/>
            <a:ext cx="1307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Orders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2487168"/>
            <a:ext cx="1417320" cy="86868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21040" y="2487168"/>
            <a:ext cx="141732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2596896"/>
            <a:ext cx="11978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96,096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2990088"/>
            <a:ext cx="1307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Customers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3456432"/>
            <a:ext cx="1417320" cy="86868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3456432"/>
            <a:ext cx="1417320" cy="457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0768" y="3566160"/>
            <a:ext cx="11978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91.9%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3959352"/>
            <a:ext cx="1307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On-Time Delivery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4425696"/>
            <a:ext cx="1417320" cy="86868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21040" y="4425696"/>
            <a:ext cx="141732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30768" y="4535424"/>
            <a:ext cx="11978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4.09★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904" y="4928616"/>
            <a:ext cx="1307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Avg Review Score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5394960"/>
            <a:ext cx="1417320" cy="86868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21040" y="5394960"/>
            <a:ext cx="1417320" cy="45720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30768" y="5504688"/>
            <a:ext cx="11978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10.5%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75904" y="5897880"/>
            <a:ext cx="1307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Seller Conversion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51967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5F80"/>
                </a:solidFill>
                <a:latin typeface="Calibri"/>
              </a:rPr>
              <a:t>CONFIDENTIAL  ·  Olist Analytics Platform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967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5F80"/>
                </a:solidFill>
                <a:latin typeface="Calibri"/>
              </a:rPr>
              <a:t>CONFIDENTIAL  ·  Olist Analytics Platform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What we built · What we found · What to do next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6350">
            <a:solidFill>
              <a:srgbClr val="4A5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188720"/>
            <a:ext cx="3566160" cy="512064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3566160" cy="45720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9844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7EF1"/>
                </a:solidFill>
                <a:latin typeface="Calibri"/>
              </a:rPr>
              <a:t>🏗  What We Built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" y="1764792"/>
            <a:ext cx="3337560" cy="0"/>
          </a:xfrm>
          <a:prstGeom prst="line">
            <a:avLst/>
          </a:prstGeom>
          <a:ln w="6350">
            <a:solidFill>
              <a:srgbClr val="4A5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182880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2B7EF1"/>
                </a:solidFill>
                <a:latin typeface="Calibri"/>
              </a:rPr>
              <a:t>▸  </a:t>
            </a:r>
            <a:r>
              <a:rPr sz="1150" b="0">
                <a:solidFill>
                  <a:srgbClr val="E2E8F0"/>
                </a:solidFill>
                <a:latin typeface="Calibri"/>
              </a:rPr>
              <a:t>End-to-end modern data platform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B7EF1"/>
                </a:solidFill>
                <a:latin typeface="Calibri"/>
              </a:rPr>
              <a:t>▸  </a:t>
            </a:r>
            <a:r>
              <a:rPr sz="1150" b="0">
                <a:solidFill>
                  <a:srgbClr val="E2E8F0"/>
                </a:solidFill>
                <a:latin typeface="Calibri"/>
              </a:rPr>
              <a:t>BigQuery star schema warehouse (7 dims, 4 facts)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B7EF1"/>
                </a:solidFill>
                <a:latin typeface="Calibri"/>
              </a:rPr>
              <a:t>▸  </a:t>
            </a:r>
            <a:r>
              <a:rPr sz="1150" b="0">
                <a:solidFill>
                  <a:srgbClr val="E2E8F0"/>
                </a:solidFill>
                <a:latin typeface="Calibri"/>
              </a:rPr>
              <a:t>dbt transformation: 9 staging + 7 mart models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B7EF1"/>
                </a:solidFill>
                <a:latin typeface="Calibri"/>
              </a:rPr>
              <a:t>▸  </a:t>
            </a:r>
            <a:r>
              <a:rPr sz="1150" b="0">
                <a:solidFill>
                  <a:srgbClr val="E2E8F0"/>
                </a:solidFill>
                <a:latin typeface="Calibri"/>
              </a:rPr>
              <a:t>181+ automated data quality checks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B7EF1"/>
                </a:solidFill>
                <a:latin typeface="Calibri"/>
              </a:rPr>
              <a:t>▸  </a:t>
            </a:r>
            <a:r>
              <a:rPr sz="1150" b="0">
                <a:solidFill>
                  <a:srgbClr val="E2E8F0"/>
                </a:solidFill>
                <a:latin typeface="Calibri"/>
              </a:rPr>
              <a:t>Dagster + GitHub Actions orchestration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B7EF1"/>
                </a:solidFill>
                <a:latin typeface="Calibri"/>
              </a:rPr>
              <a:t>▸  </a:t>
            </a:r>
            <a:r>
              <a:rPr sz="1150" b="0">
                <a:solidFill>
                  <a:srgbClr val="E2E8F0"/>
                </a:solidFill>
                <a:latin typeface="Calibri"/>
              </a:rPr>
              <a:t>Daily pipeline SLA &lt; 07:30 UTC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528" y="1188720"/>
            <a:ext cx="3566160" cy="512064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24528" y="1188720"/>
            <a:ext cx="356616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129844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  <a:latin typeface="Calibri"/>
              </a:rPr>
              <a:t>📊  Key Findings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334256" y="1764792"/>
            <a:ext cx="3337560" cy="0"/>
          </a:xfrm>
          <a:prstGeom prst="line">
            <a:avLst/>
          </a:prstGeom>
          <a:ln w="6350">
            <a:solidFill>
              <a:srgbClr val="4A5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15968" y="182880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F5A623"/>
                </a:solidFill>
                <a:latin typeface="Calibri"/>
              </a:rPr>
              <a:t>▸  </a:t>
            </a:r>
            <a:r>
              <a:rPr sz="1150" b="0">
                <a:solidFill>
                  <a:srgbClr val="E2E8F0"/>
                </a:solidFill>
                <a:latin typeface="Calibri"/>
              </a:rPr>
              <a:t>97% one-time buyer rate — #1 growth lever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5A623"/>
                </a:solidFill>
                <a:latin typeface="Calibri"/>
              </a:rPr>
              <a:t>▸  </a:t>
            </a:r>
            <a:r>
              <a:rPr sz="1150" b="0">
                <a:solidFill>
                  <a:srgbClr val="E2E8F0"/>
                </a:solidFill>
                <a:latin typeface="Calibri"/>
              </a:rPr>
              <a:t>23,000 at-risk customers = ~R$300K recoverable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5A623"/>
                </a:solidFill>
                <a:latin typeface="Calibri"/>
              </a:rPr>
              <a:t>▸  </a:t>
            </a:r>
            <a:r>
              <a:rPr sz="1150" b="0">
                <a:solidFill>
                  <a:srgbClr val="E2E8F0"/>
                </a:solidFill>
                <a:latin typeface="Calibri"/>
              </a:rPr>
              <a:t>Paid search converts 12.3% vs 3.0% email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5A623"/>
                </a:solidFill>
                <a:latin typeface="Calibri"/>
              </a:rPr>
              <a:t>▸  </a:t>
            </a:r>
            <a:r>
              <a:rPr sz="1150" b="0">
                <a:solidFill>
                  <a:srgbClr val="E2E8F0"/>
                </a:solidFill>
                <a:latin typeface="Calibri"/>
              </a:rPr>
              <a:t>Late deliveries score 3.58 vs 4.42 on-time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5A623"/>
                </a:solidFill>
                <a:latin typeface="Calibri"/>
              </a:rPr>
              <a:t>▸  </a:t>
            </a:r>
            <a:r>
              <a:rPr sz="1150" b="0">
                <a:solidFill>
                  <a:srgbClr val="E2E8F0"/>
                </a:solidFill>
                <a:latin typeface="Calibri"/>
              </a:rPr>
              <a:t>Top 2 categories = 18.5% GMV from &lt;5% SKUs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F5A623"/>
                </a:solidFill>
                <a:latin typeface="Calibri"/>
              </a:rPr>
              <a:t>▸  </a:t>
            </a:r>
            <a:r>
              <a:rPr sz="1150" b="0">
                <a:solidFill>
                  <a:srgbClr val="E2E8F0"/>
                </a:solidFill>
                <a:latin typeface="Calibri"/>
              </a:rPr>
              <a:t>SP + RJ = 52% of GMV — geographic concentration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91856" y="1188720"/>
            <a:ext cx="3566160" cy="512064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1856" y="1188720"/>
            <a:ext cx="3566160" cy="457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129844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CF8E"/>
                </a:solidFill>
                <a:latin typeface="Calibri"/>
              </a:rPr>
              <a:t>🎯  Recommendations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101584" y="1764792"/>
            <a:ext cx="3337560" cy="0"/>
          </a:xfrm>
          <a:prstGeom prst="line">
            <a:avLst/>
          </a:prstGeom>
          <a:ln w="6350">
            <a:solidFill>
              <a:srgbClr val="4A5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083296" y="182880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3ECF8E"/>
                </a:solidFill>
                <a:latin typeface="Calibri"/>
              </a:rPr>
              <a:t>▸  </a:t>
            </a:r>
            <a:r>
              <a:rPr sz="1150" b="0">
                <a:solidFill>
                  <a:srgbClr val="E2E8F0"/>
                </a:solidFill>
                <a:latin typeface="Calibri"/>
              </a:rPr>
              <a:t>Launch loyalty programme → repeat rate 3% → 8%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3ECF8E"/>
                </a:solidFill>
                <a:latin typeface="Calibri"/>
              </a:rPr>
              <a:t>▸  </a:t>
            </a:r>
            <a:r>
              <a:rPr sz="1150" b="0">
                <a:solidFill>
                  <a:srgbClr val="E2E8F0"/>
                </a:solidFill>
                <a:latin typeface="Calibri"/>
              </a:rPr>
              <a:t>Win-back campaign: 23K at-risk customers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3ECF8E"/>
                </a:solidFill>
                <a:latin typeface="Calibri"/>
              </a:rPr>
              <a:t>▸  </a:t>
            </a:r>
            <a:r>
              <a:rPr sz="1150" b="0">
                <a:solidFill>
                  <a:srgbClr val="E2E8F0"/>
                </a:solidFill>
                <a:latin typeface="Calibri"/>
              </a:rPr>
              <a:t>Reallocate budget to paid search (+12.3% CVR)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3ECF8E"/>
                </a:solidFill>
                <a:latin typeface="Calibri"/>
              </a:rPr>
              <a:t>▸  </a:t>
            </a:r>
            <a:r>
              <a:rPr sz="1150" b="0">
                <a:solidFill>
                  <a:srgbClr val="E2E8F0"/>
                </a:solidFill>
                <a:latin typeface="Calibri"/>
              </a:rPr>
              <a:t>Carrier SLA renegotiation for frontier states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3ECF8E"/>
                </a:solidFill>
                <a:latin typeface="Calibri"/>
              </a:rPr>
              <a:t>▸  </a:t>
            </a:r>
            <a:r>
              <a:rPr sz="1150" b="0">
                <a:solidFill>
                  <a:srgbClr val="E2E8F0"/>
                </a:solidFill>
                <a:latin typeface="Calibri"/>
              </a:rPr>
              <a:t>Exclusive partnerships: Health &amp; Beauty, Watches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3ECF8E"/>
                </a:solidFill>
                <a:latin typeface="Calibri"/>
              </a:rPr>
              <a:t>▸  </a:t>
            </a:r>
            <a:r>
              <a:rPr sz="1150" b="0">
                <a:solidFill>
                  <a:srgbClr val="E2E8F0"/>
                </a:solidFill>
                <a:latin typeface="Calibri"/>
              </a:rPr>
              <a:t>Phase 2: BG/NBD CLV + predictive churn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967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5F80"/>
                </a:solidFill>
                <a:latin typeface="Calibri"/>
              </a:rPr>
              <a:t>CONFIDENTIAL  ·  Olist Analytics Platform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Business Problem &amp;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Four pain points · R$15.8M at stake · Six platform objectives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6350">
            <a:solidFill>
              <a:srgbClr val="4A5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188720"/>
            <a:ext cx="5303520" cy="155448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30352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  <a:latin typeface="Calibri"/>
              </a:rPr>
              <a:t>⚠  Analytics was slow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50292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Calibri"/>
              </a:rPr>
              <a:t>Teams queried raw CSV files manually. No shared schema, no historical consistency, no self-serve BI.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188720"/>
            <a:ext cx="5303520" cy="155448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1188720"/>
            <a:ext cx="530352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  <a:latin typeface="Calibri"/>
              </a:rPr>
              <a:t>⚠  Data was siloed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691640"/>
            <a:ext cx="50292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Calibri"/>
              </a:rPr>
              <a:t>Orders, marketing leads, sellers and reviews lived in separate files with no common data model.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07792"/>
            <a:ext cx="5303520" cy="155448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907792"/>
            <a:ext cx="530352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992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  <a:latin typeface="Calibri"/>
              </a:rPr>
              <a:t>⚠  No quality guarantees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410712"/>
            <a:ext cx="50292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Calibri"/>
              </a:rPr>
              <a:t>No validated null rates, duplicate checks or referential integrity. No dashboard was fully trustworthy.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2907792"/>
            <a:ext cx="5303520" cy="155448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2907792"/>
            <a:ext cx="530352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9992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  <a:latin typeface="Calibri"/>
              </a:rPr>
              <a:t>⚠  Insights were invisible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410712"/>
            <a:ext cx="50292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Calibri"/>
              </a:rPr>
              <a:t>23K at-risk customers. Channel ROI gap. Delivery-to-review correlation. All actionable — all unseen.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72000"/>
            <a:ext cx="11274552" cy="173736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572000"/>
            <a:ext cx="11274552" cy="36576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62686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7EF1"/>
                </a:solidFill>
                <a:latin typeface="Calibri"/>
              </a:rPr>
              <a:t>Six Platform Objectives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97433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ECF8E"/>
                </a:solidFill>
                <a:latin typeface="Calibri"/>
              </a:rPr>
              <a:t>✓  Centralise all 11 datasets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97433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ECF8E"/>
                </a:solidFill>
                <a:latin typeface="Calibri"/>
              </a:rPr>
              <a:t>✓  Enable self-serve BI (&lt; 5s query)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497433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ECF8E"/>
                </a:solidFill>
                <a:latin typeface="Calibri"/>
              </a:rPr>
              <a:t>✓  Daily refresh — SLA 07:30 UTC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35838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ECF8E"/>
                </a:solidFill>
                <a:latin typeface="Calibri"/>
              </a:rPr>
              <a:t>✓  181+ DQ checks — 98%+ pass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535838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ECF8E"/>
                </a:solidFill>
                <a:latin typeface="Calibri"/>
              </a:rPr>
              <a:t>✓  8 KPI dimensions for C-suite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0" y="535838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ECF8E"/>
                </a:solidFill>
                <a:latin typeface="Calibri"/>
              </a:rPr>
              <a:t>✓  Data-backed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967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5F80"/>
                </a:solidFill>
                <a:latin typeface="Calibri"/>
              </a:rPr>
              <a:t>CONFIDENTIAL  ·  Olist Analytics Platform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Platform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Five-layer ELT architecture on Google Cloud Platform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6350">
            <a:solidFill>
              <a:srgbClr val="4A5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5760" y="1188720"/>
            <a:ext cx="1600200" cy="320040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1600200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4A3B8"/>
                </a:solidFill>
                <a:latin typeface="Calibri"/>
              </a:rPr>
              <a:t>SOURCE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1847088"/>
            <a:ext cx="1417320" cy="0"/>
          </a:xfrm>
          <a:prstGeom prst="line">
            <a:avLst/>
          </a:prstGeom>
          <a:ln w="6350">
            <a:solidFill>
              <a:srgbClr val="4A5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1920240"/>
            <a:ext cx="1417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2E8F0"/>
                </a:solidFill>
                <a:latin typeface="Calibri"/>
              </a:rPr>
              <a:t>11 CSV files
(data/raw/)
99K–1M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2536" y="25603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A5F80"/>
                </a:solidFill>
                <a:latin typeface="Calibr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1188720"/>
            <a:ext cx="1600200" cy="320040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48840" y="1188720"/>
            <a:ext cx="16002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40280" y="128016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A623"/>
                </a:solidFill>
                <a:latin typeface="Calibri"/>
              </a:rPr>
              <a:t>RAW
BigQuery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40280" y="1847088"/>
            <a:ext cx="1417320" cy="0"/>
          </a:xfrm>
          <a:prstGeom prst="line">
            <a:avLst/>
          </a:prstGeom>
          <a:ln w="6350">
            <a:solidFill>
              <a:srgbClr val="4A5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40280" y="1920240"/>
            <a:ext cx="1417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2E8F0"/>
                </a:solidFill>
                <a:latin typeface="Calibri"/>
              </a:rPr>
              <a:t>olist_raw
10 tables
All-STRING schema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85616" y="25603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A5F80"/>
                </a:solidFill>
                <a:latin typeface="Calibri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1188720"/>
            <a:ext cx="1600200" cy="320040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31920" y="1188720"/>
            <a:ext cx="1600200" cy="54864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128016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B7EF1"/>
                </a:solidFill>
                <a:latin typeface="Calibri"/>
              </a:rPr>
              <a:t>STAGING
dbt views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23360" y="1847088"/>
            <a:ext cx="1417320" cy="0"/>
          </a:xfrm>
          <a:prstGeom prst="line">
            <a:avLst/>
          </a:prstGeom>
          <a:ln w="6350">
            <a:solidFill>
              <a:srgbClr val="4A5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23360" y="1920240"/>
            <a:ext cx="1417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2E8F0"/>
                </a:solidFill>
                <a:latin typeface="Calibri"/>
              </a:rPr>
              <a:t>9 models
Type cast +
Dedup 1M→19K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68696" y="25603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A5F80"/>
                </a:solidFill>
                <a:latin typeface="Calibri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1188720"/>
            <a:ext cx="1600200" cy="320040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15000" y="1188720"/>
            <a:ext cx="1600200" cy="54864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06440" y="128016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ECF8E"/>
                </a:solidFill>
                <a:latin typeface="Calibri"/>
              </a:rPr>
              <a:t>WAREHOUSE
BigQuery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806440" y="1847088"/>
            <a:ext cx="1417320" cy="0"/>
          </a:xfrm>
          <a:prstGeom prst="line">
            <a:avLst/>
          </a:prstGeom>
          <a:ln w="6350">
            <a:solidFill>
              <a:srgbClr val="4A5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806440" y="1920240"/>
            <a:ext cx="1417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2E8F0"/>
                </a:solidFill>
                <a:latin typeface="Calibri"/>
              </a:rPr>
              <a:t>7 Dims + 4 Facts
Star schema
Partitioned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1776" y="25603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A5F80"/>
                </a:solidFill>
                <a:latin typeface="Calibri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1188720"/>
            <a:ext cx="1600200" cy="320040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98079" y="1188720"/>
            <a:ext cx="16002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19" y="128016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A78BFA"/>
                </a:solidFill>
                <a:latin typeface="Calibri"/>
              </a:rPr>
              <a:t>MARTS
dbt tables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589519" y="1847088"/>
            <a:ext cx="1417320" cy="0"/>
          </a:xfrm>
          <a:prstGeom prst="line">
            <a:avLst/>
          </a:prstGeom>
          <a:ln w="6350">
            <a:solidFill>
              <a:srgbClr val="4A5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589519" y="1920240"/>
            <a:ext cx="1417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2E8F0"/>
                </a:solidFill>
                <a:latin typeface="Calibri"/>
              </a:rPr>
              <a:t>7 pre-agg
business marts
CMO·CFO·COO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572000"/>
            <a:ext cx="5394960" cy="123444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4572000"/>
            <a:ext cx="5394960" cy="36576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6268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7EF1"/>
                </a:solidFill>
                <a:latin typeface="Calibri"/>
              </a:rPr>
              <a:t>⚙  Orchestration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956048"/>
            <a:ext cx="5166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alibri"/>
              </a:rPr>
              <a:t>Dagster (primary · asset-based) · GitHub Actions (CI/CD · scheduled backup)
Daily 02:00 SGT full pipeline · 06:00 SGT dbt-only refresh · 181+ DQ checks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89320" y="4572000"/>
            <a:ext cx="5806440" cy="123444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89320" y="4572000"/>
            <a:ext cx="5806440" cy="36576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462686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ECF8E"/>
                </a:solidFill>
                <a:latin typeface="Calibri"/>
              </a:rPr>
              <a:t>📊  Outputs &amp; Consumers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4956048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alibri"/>
              </a:rPr>
              <a:t>7 Business Marts  ·  Python Analytics (8 chart outputs)  ·  GitHub Pages dashboard
Static dashboard (dashboard/index.html)  ·  Jupyter notebooks  ·  Excel / BI 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967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5F80"/>
                </a:solidFill>
                <a:latin typeface="Calibri"/>
              </a:rPr>
              <a:t>CONFIDENTIAL  ·  Olist Analytics Platform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Data Pipeline &amp;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181+ automated checks across four layers · 98%+ pass rate every run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6350">
            <a:solidFill>
              <a:srgbClr val="4A5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188720"/>
            <a:ext cx="5943600" cy="896112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4864" cy="8961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2801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A623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2618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DQ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243584"/>
            <a:ext cx="34290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87 Python checks before any write.
Null rates, duplicates, referential integrity,
business logic (prices&gt;0, dates valid).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76272"/>
            <a:ext cx="5943600" cy="896112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176272"/>
            <a:ext cx="54864" cy="896112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2677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B7EF1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24942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Python Ingest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231136"/>
            <a:ext cx="34290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CSV → BigQuery olist_raw (10 tables).
WRITE_TRUNCATE · all-STRING schema.
Incremental mode with duplicate guard.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63824"/>
            <a:ext cx="5943600" cy="896112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163824"/>
            <a:ext cx="54864" cy="89611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25526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8BDF8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369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Star Schema DDL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3218688"/>
            <a:ext cx="34290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scripts/run_schema.py creates/refreshes
7 dimension tables + 4 fact tables.
Runs after ingest completes.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51376"/>
            <a:ext cx="5943600" cy="896112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151376"/>
            <a:ext cx="54864" cy="896112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24281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B7EF1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2245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dbt Staging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4206240"/>
            <a:ext cx="34290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9 views: type-cast, clean, deduplicate.
Geolocation: 1,000,163 rows → 19,015.
38+ schema tests on every run.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138928"/>
            <a:ext cx="5943600" cy="896112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138928"/>
            <a:ext cx="54864" cy="896112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2303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ECF8E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2120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dbt Marts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5193792"/>
            <a:ext cx="34290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7 analytics tables with pre-computed KPIs.
50+ mart schema tests.
6 SQL cross-table assertions.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1188720"/>
            <a:ext cx="5212080" cy="502920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0" y="1188720"/>
            <a:ext cx="5212080" cy="36576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12618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ECF8E"/>
                </a:solidFill>
                <a:latin typeface="Calibri"/>
              </a:rPr>
              <a:t>Data Quality Architecture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1719072"/>
            <a:ext cx="5029200" cy="914400"/>
          </a:xfrm>
          <a:prstGeom prst="rect">
            <a:avLst/>
          </a:prstGeom>
          <a:solidFill>
            <a:srgbClr val="18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75120" y="1719072"/>
            <a:ext cx="45720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12280" y="1783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Calibri"/>
              </a:rPr>
              <a:t>Layer 1  Python Pre-Load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17830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87+ checks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21305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Nulls · Dupes · Ref integrity · Value ranges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5120" y="2770632"/>
            <a:ext cx="5029200" cy="914400"/>
          </a:xfrm>
          <a:prstGeom prst="rect">
            <a:avLst/>
          </a:prstGeom>
          <a:solidFill>
            <a:srgbClr val="18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675120" y="2770632"/>
            <a:ext cx="45720" cy="914400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12280" y="2834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7EF1"/>
                </a:solidFill>
                <a:latin typeface="Calibri"/>
              </a:rPr>
              <a:t>Layer 2  dbt Staging Tests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28346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38+ checks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318211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Column types · Uniqueness · Not-null · Accepted values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75120" y="3822192"/>
            <a:ext cx="5029200" cy="914400"/>
          </a:xfrm>
          <a:prstGeom prst="rect">
            <a:avLst/>
          </a:prstGeom>
          <a:solidFill>
            <a:srgbClr val="18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75120" y="3822192"/>
            <a:ext cx="45720" cy="91440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12280" y="3886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ECF8E"/>
                </a:solidFill>
                <a:latin typeface="Calibri"/>
              </a:rPr>
              <a:t>Layer 3  dbt Mart Tests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0" y="388620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50+ checks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80" y="42336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Business logic · Row counts · Percentile ranges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75120" y="4873752"/>
            <a:ext cx="5029200" cy="914400"/>
          </a:xfrm>
          <a:prstGeom prst="rect">
            <a:avLst/>
          </a:prstGeom>
          <a:solidFill>
            <a:srgbClr val="18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75120" y="4873752"/>
            <a:ext cx="45720" cy="914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12280" y="4937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Calibri"/>
              </a:rPr>
              <a:t>Layer 4  SQL Assertions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75520" y="49377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6 assertions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528523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Cross-table integrity · RFM coverage · Geo bounds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75120" y="61081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3ECF8E"/>
                </a:solidFill>
                <a:latin typeface="Calibri"/>
              </a:rPr>
              <a:t>Total: 181+ checks  ·  98%+ pass rate every pipeline run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967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5F80"/>
                </a:solidFill>
                <a:latin typeface="Calibri"/>
              </a:rPr>
              <a:t>CONFIDENTIAL  ·  Olist Analytics Platform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Key Business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Platform-wide performance indicators · 2016–2018 Olist dataset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6350">
            <a:solidFill>
              <a:srgbClr val="4A5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188720"/>
            <a:ext cx="2148840" cy="146304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2148840" cy="457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8016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R$15.8M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1051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ECF8E"/>
                </a:solidFill>
                <a:latin typeface="Calibri"/>
              </a:rPr>
              <a:t>Total 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167128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R$137.75 avg order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1188720"/>
            <a:ext cx="2148840" cy="146304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34640" y="1188720"/>
            <a:ext cx="2148840" cy="45720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128016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99,441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181051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B7EF1"/>
                </a:solidFill>
                <a:latin typeface="Calibri"/>
              </a:rPr>
              <a:t>Orders Processed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2" y="2167128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2016–2018 · Full historical load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1188720"/>
            <a:ext cx="2148840" cy="146304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2080" y="1188720"/>
            <a:ext cx="214884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128016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96,096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181051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8BDF8"/>
                </a:solidFill>
                <a:latin typeface="Calibri"/>
              </a:rPr>
              <a:t>Unique Customers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2" y="2167128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customer_unique_id basis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1188720"/>
            <a:ext cx="2148840" cy="146304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89520" y="1188720"/>
            <a:ext cx="2148840" cy="45720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128016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3,095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181051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B7EF1"/>
                </a:solidFill>
                <a:latin typeface="Calibri"/>
              </a:rPr>
              <a:t>Active Sellers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2672" y="2167128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At least 1 delivered order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66960" y="1188720"/>
            <a:ext cx="2148840" cy="146304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966960" y="1188720"/>
            <a:ext cx="214884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0" y="128016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32.9K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181051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8BDF8"/>
                </a:solidFill>
                <a:latin typeface="Calibri"/>
              </a:rPr>
              <a:t>Products Listed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0112" y="2167128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73 product categories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926080"/>
            <a:ext cx="2148840" cy="146304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2926080"/>
            <a:ext cx="214884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0175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91.9%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54787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A623"/>
                </a:solidFill>
                <a:latin typeface="Calibri"/>
              </a:rPr>
              <a:t>On-Time Delivery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3904488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Target: ≥ 95%  ·  Gap: 3.1pp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2926080"/>
            <a:ext cx="2148840" cy="146304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34640" y="2926080"/>
            <a:ext cx="214884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6080" y="30175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4.09★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354787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A623"/>
                </a:solidFill>
                <a:latin typeface="Calibri"/>
              </a:rPr>
              <a:t>Avg Review Score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7792" y="3904488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Target: 4.2  ·  Late: 3.58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12080" y="2926080"/>
            <a:ext cx="2148840" cy="146304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212080" y="2926080"/>
            <a:ext cx="214884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0" y="30175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0" y="354787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A623"/>
                </a:solidFill>
                <a:latin typeface="Calibri"/>
              </a:rPr>
              <a:t>Repeat Purchase Rate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85232" y="3904488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97% one-time buyers  ·  Target: 8%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89520" y="2926080"/>
            <a:ext cx="2148840" cy="146304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89520" y="2926080"/>
            <a:ext cx="2148840" cy="457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80960" y="30175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10.5%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80960" y="354787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ECF8E"/>
                </a:solidFill>
                <a:latin typeface="Calibri"/>
              </a:rPr>
              <a:t>Seller Conversion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62672" y="3904488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MQL → closed deal  ·  8K leads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966960" y="2926080"/>
            <a:ext cx="2148840" cy="146304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966960" y="2926080"/>
            <a:ext cx="2148840" cy="457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0" y="30175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+42%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0" y="354787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ECF8E"/>
                </a:solidFill>
                <a:latin typeface="Calibri"/>
              </a:rPr>
              <a:t>Peak MoM Growth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40112" y="3904488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Nov 2017 Black Friday spike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967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5F80"/>
                </a:solidFill>
                <a:latin typeface="Calibri"/>
              </a:rPr>
              <a:t>CONFIDENTIAL  ·  Olist Analytics Platform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Revenue &amp; Category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mart_monthly_revenue  ·  mart_product_performance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6350">
            <a:solidFill>
              <a:srgbClr val="4A5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143000"/>
            <a:ext cx="7132320" cy="347472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7132320" cy="36576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0700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ECF8E"/>
                </a:solidFill>
                <a:latin typeface="Calibri"/>
              </a:rPr>
              <a:t>Monthly GMV Trend — 2016 to 2018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12070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5F80"/>
                </a:solidFill>
                <a:latin typeface="Calibri"/>
              </a:rPr>
              <a:t>mart_monthly_revenue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69664"/>
            <a:ext cx="294785" cy="128016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2297" y="3401568"/>
            <a:ext cx="294785" cy="896112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84514" y="3324758"/>
            <a:ext cx="294785" cy="972921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06731" y="3222345"/>
            <a:ext cx="294785" cy="1075334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28948" y="3171139"/>
            <a:ext cx="294785" cy="1126540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51165" y="3017520"/>
            <a:ext cx="294785" cy="1280160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3382" y="2966313"/>
            <a:ext cx="294785" cy="1331366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95600" y="2761488"/>
            <a:ext cx="294785" cy="1536192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17817" y="2633472"/>
            <a:ext cx="294785" cy="1664208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40034" y="2505456"/>
            <a:ext cx="294785" cy="1792224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62251" y="2377440"/>
            <a:ext cx="294785" cy="1920240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84468" y="1737360"/>
            <a:ext cx="294785" cy="2560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06685" y="2454249"/>
            <a:ext cx="294785" cy="1843430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28902" y="2249424"/>
            <a:ext cx="294785" cy="2048256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51120" y="2198217"/>
            <a:ext cx="294785" cy="2099462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73337" y="2121408"/>
            <a:ext cx="294785" cy="2176272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95554" y="2147011"/>
            <a:ext cx="294785" cy="2150668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17771" y="2044598"/>
            <a:ext cx="294785" cy="2253081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39988" y="2172614"/>
            <a:ext cx="294785" cy="2125065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62205" y="2070201"/>
            <a:ext cx="294785" cy="2227478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84422" y="1993392"/>
            <a:ext cx="294785" cy="2304288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640080" y="4297680"/>
            <a:ext cx="6766560" cy="0"/>
          </a:xfrm>
          <a:prstGeom prst="line">
            <a:avLst/>
          </a:prstGeom>
          <a:ln w="6350">
            <a:solidFill>
              <a:srgbClr val="4A5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65760" y="4133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F80"/>
                </a:solidFill>
                <a:latin typeface="Calibri"/>
              </a:rPr>
              <a:t>R$0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17373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A623"/>
                </a:solidFill>
                <a:latin typeface="Calibri"/>
              </a:rPr>
              <a:t>R$1M (Nov'17 peak)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17830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A623"/>
                </a:solidFill>
                <a:latin typeface="Calibri"/>
              </a:rPr>
              <a:t>▲ Black Friday +42% MoM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18120" y="1143000"/>
            <a:ext cx="3977639" cy="502920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18120" y="1143000"/>
            <a:ext cx="3977639" cy="36576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79" y="12070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7EF1"/>
                </a:solidFill>
                <a:latin typeface="Calibri"/>
              </a:rPr>
              <a:t>Top Categories by GMV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15727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F80"/>
                </a:solidFill>
                <a:latin typeface="Calibri"/>
              </a:rPr>
              <a:t>mart_product_performance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Health &amp; Beauty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2212848"/>
            <a:ext cx="2011680" cy="201168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49840" y="219456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94A3B8"/>
                </a:solidFill>
                <a:latin typeface="Calibri"/>
              </a:rPr>
              <a:t>~10% GMV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2542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Watches &amp; Gifts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55279" y="2834640"/>
            <a:ext cx="1810511" cy="201168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49840" y="281635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94A3B8"/>
                </a:solidFill>
                <a:latin typeface="Calibri"/>
              </a:rPr>
              <a:t>~9% GMV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31638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Computer Accessories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55279" y="3456432"/>
            <a:ext cx="1408176" cy="2011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49840" y="343814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94A3B8"/>
                </a:solidFill>
                <a:latin typeface="Calibri"/>
              </a:rPr>
              <a:t>~7% GMV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37856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Furniture &amp; Décor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55279" y="4078224"/>
            <a:ext cx="1207007" cy="201168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49840" y="405993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94A3B8"/>
                </a:solidFill>
                <a:latin typeface="Calibri"/>
              </a:rPr>
              <a:t>~6% GMV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79" y="44074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Sports &amp; Leisure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55279" y="4700016"/>
            <a:ext cx="1005840" cy="2011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49840" y="46817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94A3B8"/>
                </a:solidFill>
                <a:latin typeface="Calibri"/>
              </a:rPr>
              <a:t>~5% GMV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55279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Other (68 categories)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49840" y="530352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94A3B8"/>
                </a:solidFill>
                <a:latin typeface="Calibri"/>
              </a:rPr>
              <a:t>~63% GMV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5279" y="577900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5A623"/>
                </a:solidFill>
                <a:latin typeface="Calibri"/>
              </a:rPr>
              <a:t>⚡ Top 2 categories = 18.5% of GMV from &lt;5% of SKUs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4617720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8BDF8"/>
                </a:solidFill>
                <a:latin typeface="Calibri"/>
              </a:rPr>
              <a:t>Insight: 2018 shows plateau — growth requires retention, not acquisition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967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5F80"/>
                </a:solidFill>
                <a:latin typeface="Calibri"/>
              </a:rPr>
              <a:t>CONFIDENTIAL  ·  Olist Analytics Platform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Customer Intelligence — RFM &amp; CLV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mart_customer_lifetime_value  ·  96,096 unique customers segmented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6350">
            <a:solidFill>
              <a:srgbClr val="4A5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170432"/>
            <a:ext cx="3291840" cy="192024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329184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61872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5A623"/>
                </a:solidFill>
                <a:latin typeface="Calibri"/>
              </a:rPr>
              <a:t>97%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7627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E8F0"/>
                </a:solidFill>
                <a:latin typeface="Calibri"/>
              </a:rPr>
              <a:t>of customers never bought twice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96896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5A623"/>
                </a:solidFill>
                <a:latin typeface="Calibri"/>
              </a:rPr>
              <a:t>→ Repeat rate 3%  ·  Target: 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46120"/>
            <a:ext cx="3291840" cy="150876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246120"/>
            <a:ext cx="3291840" cy="457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310128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ECF8E"/>
                </a:solidFill>
                <a:latin typeface="Calibri"/>
              </a:rPr>
              <a:t>Customer Lifetime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675887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alibri"/>
              </a:rPr>
              <a:t>Median CLV:  ~R$137 (single-purchase)
Top 1% Champions:  &gt;R$800
Phase 1: spend proxy formula
Phase 2 (roadmap): BG/NBD + Gamma-Gamma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77639" y="1170432"/>
            <a:ext cx="7818120" cy="502920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77639" y="1170432"/>
            <a:ext cx="7818120" cy="45720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1234440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7EF1"/>
                </a:solidFill>
                <a:latin typeface="Calibri"/>
              </a:rPr>
              <a:t>RFM Segmentation — 8 Behavioural Segments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1600200"/>
            <a:ext cx="7589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F80"/>
                </a:solidFill>
                <a:latin typeface="Calibri"/>
              </a:rPr>
              <a:t>Recency × Frequency × Monetary quartile scoring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1920240"/>
            <a:ext cx="226771" cy="329184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22677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ECF8E"/>
                </a:solidFill>
                <a:latin typeface="Calibri"/>
              </a:rPr>
              <a:t>Champions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26771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6.2%  |  5,974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2677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R$800+ CLV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226771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Referral programme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2441447"/>
            <a:ext cx="212140" cy="329184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0" y="278891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ECF8E"/>
                </a:solidFill>
                <a:latin typeface="Calibri"/>
              </a:rPr>
              <a:t>Loyal Customers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78891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5.8%  |  5,570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78891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R$450+ CLV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2788919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Exclusive access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0" y="2962654"/>
            <a:ext cx="296265" cy="329184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0" y="331012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B7EF1"/>
                </a:solidFill>
                <a:latin typeface="Calibri"/>
              </a:rPr>
              <a:t>Potential Loyalists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31012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8.1%  |  7,783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31012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R$250 CLV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331012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Loyalty onboarding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0" y="3483861"/>
            <a:ext cx="446227" cy="3291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0" y="383133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8BDF8"/>
                </a:solidFill>
                <a:latin typeface="Calibri"/>
              </a:rPr>
              <a:t>New Customers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3831333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12.2%  |  11,684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3831333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R$137 CLV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21240" y="3831333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Welcome series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0" y="4005068"/>
            <a:ext cx="881481" cy="32918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0" y="43525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A623"/>
                </a:solidFill>
                <a:latin typeface="Calibri"/>
              </a:rPr>
              <a:t>At-Risk Customers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43525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24.1%  |  23,188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43525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~R$300K total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21240" y="435254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5A623"/>
                </a:solidFill>
                <a:latin typeface="Calibri"/>
              </a:rPr>
              <a:t>⚡ Win-back NOW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0" y="4526275"/>
            <a:ext cx="676656" cy="329184"/>
          </a:xfrm>
          <a:prstGeom prst="rect">
            <a:avLst/>
          </a:prstGeom>
          <a:solidFill>
            <a:srgbClr val="4A5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0" y="487374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Hibernating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4873747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18.5%  |  17,778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4873747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Low CLV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21240" y="4873747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Re-engagement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0" y="5047482"/>
            <a:ext cx="230428" cy="32918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0" y="539495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A623"/>
                </a:solidFill>
                <a:latin typeface="Calibri"/>
              </a:rPr>
              <a:t>Sleeping Giants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539495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6.3%  |  6,055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539495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High-spend 1×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21240" y="539495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Premium re-engage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0" y="5568689"/>
            <a:ext cx="687628" cy="329184"/>
          </a:xfrm>
          <a:prstGeom prst="rect">
            <a:avLst/>
          </a:prstGeom>
          <a:solidFill>
            <a:srgbClr val="4A5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0" y="591616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Lost Customers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5916161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18.8%  |  18,064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80" y="591616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Write-off risk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21240" y="591616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Assess ROI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0" y="6080760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A623"/>
                </a:solidFill>
                <a:latin typeface="Calibri"/>
              </a:rPr>
              <a:t>⚡ Priority: 23,188 at-risk customers  ·  ~R$300K recoverable at 5% re-activation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967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5F80"/>
                </a:solidFill>
                <a:latin typeface="Calibri"/>
              </a:rPr>
              <a:t>CONFIDENTIAL  ·  Olist Analytics Platform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Marketing Funnel &amp; Logistics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mart_marketing_funnel  ·  mart_logistics_performance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6350">
            <a:solidFill>
              <a:srgbClr val="4A5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170432"/>
            <a:ext cx="5440680" cy="502920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54406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Calibri"/>
              </a:rPr>
              <a:t>B2B Seller Acquisition Funnel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F80"/>
                </a:solidFill>
                <a:latin typeface="Calibri"/>
              </a:rPr>
              <a:t>8,000 MQLs → 842 closed deals · 10.5% overall conversion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965960"/>
            <a:ext cx="4114800" cy="502920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5328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Marketing Qualified Leads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5328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B7EF1"/>
                </a:solidFill>
                <a:latin typeface="Calibri"/>
              </a:rPr>
              <a:t>8,000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95526" y="2807208"/>
            <a:ext cx="2003907" cy="502920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741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Sales Accepted Leads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3741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A3F5"/>
                </a:solidFill>
                <a:latin typeface="Calibri"/>
              </a:rPr>
              <a:t>3,896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3648456"/>
            <a:ext cx="82296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2153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In-Negotiation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21538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38BDF8"/>
                </a:solidFill>
                <a:latin typeface="Calibri"/>
              </a:rPr>
              <a:t>1,603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1453" y="4489704"/>
            <a:ext cx="432054" cy="5029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0566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Closed Won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50566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3ECF8E"/>
                </a:solidFill>
                <a:latin typeface="Calibri"/>
              </a:rPr>
              <a:t>842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2852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Calibri"/>
              </a:rPr>
              <a:t>Channel Conversion Rates: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5961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alibri"/>
              </a:rPr>
              <a:t>• Paid Search: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559612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ECF8E"/>
                </a:solidFill>
                <a:latin typeface="Calibri"/>
              </a:rPr>
              <a:t>12.3%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55961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alibri"/>
              </a:rPr>
              <a:t>• Organic Search: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559612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3ECF8E"/>
                </a:solidFill>
                <a:latin typeface="Calibri"/>
              </a:rPr>
              <a:t>11.8%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87044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alibri"/>
              </a:rPr>
              <a:t>• Social Media: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58704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A3F5"/>
                </a:solidFill>
                <a:latin typeface="Calibri"/>
              </a:rPr>
              <a:t> 5.6%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587044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alibri"/>
              </a:rPr>
              <a:t>• Email: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58704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5A623"/>
                </a:solidFill>
                <a:latin typeface="Calibri"/>
              </a:rPr>
              <a:t> 3.0%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1170432"/>
            <a:ext cx="5715000" cy="502920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80760" y="1170432"/>
            <a:ext cx="571500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12344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Calibri"/>
              </a:rPr>
              <a:t>Logistics &amp; Delivery Performance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160020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F80"/>
                </a:solidFill>
                <a:latin typeface="Calibri"/>
              </a:rPr>
              <a:t>mart_logistics_performance · 91.9% on-time · Target 95%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1965960"/>
            <a:ext cx="5486400" cy="694944"/>
          </a:xfrm>
          <a:prstGeom prst="rect">
            <a:avLst/>
          </a:prstGeom>
          <a:solidFill>
            <a:srgbClr val="18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203911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On-Time Delivery 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64040" y="202082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F5A623"/>
                </a:solidFill>
                <a:latin typeface="Calibri"/>
              </a:rPr>
              <a:t>91.9%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236829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F80"/>
                </a:solidFill>
                <a:latin typeface="Calibri"/>
              </a:rPr>
              <a:t>Target: ≥ 95%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2788920"/>
            <a:ext cx="5486400" cy="694944"/>
          </a:xfrm>
          <a:prstGeom prst="rect">
            <a:avLst/>
          </a:prstGeom>
          <a:solidFill>
            <a:srgbClr val="18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286207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Avg Review — On-Time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64040" y="284378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3ECF8E"/>
                </a:solidFill>
                <a:latin typeface="Calibri"/>
              </a:rPr>
              <a:t>4.42 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319125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F80"/>
                </a:solidFill>
                <a:latin typeface="Calibri"/>
              </a:rPr>
              <a:t>Excellent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3611880"/>
            <a:ext cx="5486400" cy="694944"/>
          </a:xfrm>
          <a:prstGeom prst="rect">
            <a:avLst/>
          </a:prstGeom>
          <a:solidFill>
            <a:srgbClr val="18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368503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Avg Review — Late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64040" y="366674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F05252"/>
                </a:solidFill>
                <a:latin typeface="Calibri"/>
              </a:rPr>
              <a:t>3.58 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401421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F80"/>
                </a:solidFill>
                <a:latin typeface="Calibri"/>
              </a:rPr>
              <a:t>Critical gap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4434840"/>
            <a:ext cx="5486400" cy="694944"/>
          </a:xfrm>
          <a:prstGeom prst="rect">
            <a:avLst/>
          </a:prstGeom>
          <a:solidFill>
            <a:srgbClr val="18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80" y="450799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Median Delivery Time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64040" y="448970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5BA3F5"/>
                </a:solidFill>
                <a:latin typeface="Calibri"/>
              </a:rPr>
              <a:t>12 days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80" y="483717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F80"/>
                </a:solidFill>
                <a:latin typeface="Calibri"/>
              </a:rPr>
              <a:t>P90: 25 days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532180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Calibri"/>
              </a:rPr>
              <a:t>States with worst P90: AM · RR · AP (frontier markets &gt; 40 days)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56692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A623"/>
                </a:solidFill>
                <a:latin typeface="Calibri"/>
              </a:rPr>
              <a:t>⚡ Each day of delay = -0.05 review score · Carrier SLA renegotiation = highest-ROI operational fix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967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5F80"/>
                </a:solidFill>
                <a:latin typeface="Calibri"/>
              </a:rPr>
              <a:t>CONFIDENTIAL  ·  Olist Analytics Platform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Geographic &amp; Seller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mart_geo_performance  ·  mart_seller_performance  ·  3,095 sellers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6350">
            <a:solidFill>
              <a:srgbClr val="4A5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170432"/>
            <a:ext cx="5577840" cy="502920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557784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  <a:latin typeface="Calibri"/>
              </a:rPr>
              <a:t>GMV by State — Brazil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719072"/>
            <a:ext cx="1280160" cy="292608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02996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São Paulo (SP)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029968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3ECF8E"/>
                </a:solidFill>
                <a:latin typeface="Calibri"/>
              </a:rPr>
              <a:t>~40% of GMV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267712"/>
            <a:ext cx="384048" cy="292608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57860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Rio de Janeiro (RJ)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578608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B7EF1"/>
                </a:solidFill>
                <a:latin typeface="Calibri"/>
              </a:rPr>
              <a:t>~12% of GMV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816352"/>
            <a:ext cx="288036" cy="2926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12724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Minas Gerais (MG)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127248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38BDF8"/>
                </a:solidFill>
                <a:latin typeface="Calibri"/>
              </a:rPr>
              <a:t> ~9% of GMV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364992"/>
            <a:ext cx="192024" cy="292608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67588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Rio Grande do Sul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675888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BA3F5"/>
                </a:solidFill>
                <a:latin typeface="Calibri"/>
              </a:rPr>
              <a:t> ~6% of GMV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913632"/>
            <a:ext cx="160020" cy="2926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22452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Paraná (PR)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224528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38BDF8"/>
                </a:solidFill>
                <a:latin typeface="Calibri"/>
              </a:rPr>
              <a:t> ~5% of GMV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4462272"/>
            <a:ext cx="896112" cy="292608"/>
          </a:xfrm>
          <a:prstGeom prst="rect">
            <a:avLst/>
          </a:prstGeom>
          <a:solidFill>
            <a:srgbClr val="4A5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77316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Other 22 states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773168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4A5F80"/>
                </a:solidFill>
                <a:latin typeface="Calibri"/>
              </a:rPr>
              <a:t>~28% of GMV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0749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5A623"/>
                </a:solidFill>
                <a:latin typeface="Calibri"/>
              </a:rPr>
              <a:t>SP + RJ alone = 52% of GMV  ·  Significant geographic concentration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46811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→ Northern states (AM, RR, AP) show P90 delivery &gt; 40 days
   Growth opportunity with infrastructure investment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170432"/>
            <a:ext cx="5577840" cy="502920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1170432"/>
            <a:ext cx="5577840" cy="457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12344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ECF8E"/>
                </a:solidFill>
                <a:latin typeface="Calibri"/>
              </a:rPr>
              <a:t>Seller Performance Tiers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16002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F80"/>
                </a:solidFill>
                <a:latin typeface="Calibri"/>
              </a:rPr>
              <a:t>mart_seller_performance · composite score: GMV × reviews × delivery × volume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1920240"/>
            <a:ext cx="5303520" cy="841248"/>
          </a:xfrm>
          <a:prstGeom prst="rect">
            <a:avLst/>
          </a:prstGeom>
          <a:solidFill>
            <a:srgbClr val="18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5080" y="1920240"/>
            <a:ext cx="54864" cy="841248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198424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ECF8E"/>
                </a:solidFill>
                <a:latin typeface="Calibri"/>
              </a:rPr>
              <a:t>Tier 1 — Elite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198424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12% of sellers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23591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Score ≥ 75  ·  Top performers · Featured placement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2926080"/>
            <a:ext cx="5303520" cy="841248"/>
          </a:xfrm>
          <a:prstGeom prst="rect">
            <a:avLst/>
          </a:prstGeom>
          <a:solidFill>
            <a:srgbClr val="18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5080" y="2926080"/>
            <a:ext cx="54864" cy="841248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299008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A3F5"/>
                </a:solidFill>
                <a:latin typeface="Calibri"/>
              </a:rPr>
              <a:t>Tier 2 — Good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299008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28% of sellers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336499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Score 50–74  ·  Growth candidates · Partnership ready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55080" y="3931920"/>
            <a:ext cx="5303520" cy="841248"/>
          </a:xfrm>
          <a:prstGeom prst="rect">
            <a:avLst/>
          </a:prstGeom>
          <a:solidFill>
            <a:srgbClr val="18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5080" y="3931920"/>
            <a:ext cx="54864" cy="8412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399592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Calibri"/>
              </a:rPr>
              <a:t>Tier 3 — Average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399592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38% of sellers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43708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Score 25–49  ·  Coaching programme candidates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4937760"/>
            <a:ext cx="5303520" cy="841248"/>
          </a:xfrm>
          <a:prstGeom prst="rect">
            <a:avLst/>
          </a:prstGeom>
          <a:solidFill>
            <a:srgbClr val="18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55080" y="4937760"/>
            <a:ext cx="54864" cy="841248"/>
          </a:xfrm>
          <a:prstGeom prst="rect">
            <a:avLst/>
          </a:prstGeom>
          <a:solidFill>
            <a:srgbClr val="F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500176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5252"/>
                </a:solidFill>
                <a:latin typeface="Calibri"/>
              </a:rPr>
              <a:t>Tier 4 — At-Risk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500176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22% of sellers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53766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Score &lt; 25  ·  Review period · Potential removal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5080" y="59618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ECF8E"/>
                </a:solidFill>
                <a:latin typeface="Calibri"/>
              </a:rPr>
              <a:t>Goal: Tier 1 sellers from 12% → 30% within 12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967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5F80"/>
                </a:solidFill>
                <a:latin typeface="Calibri"/>
              </a:rPr>
              <a:t>CONFIDENTIAL  ·  Olist Analytics Platform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Production-grade · Cloud-native · Open-source · Enterprise-ready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6350">
            <a:solidFill>
              <a:srgbClr val="4A5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170432"/>
            <a:ext cx="2606040" cy="502920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2606040" cy="45720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234440"/>
            <a:ext cx="2386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B7EF1"/>
                </a:solidFill>
                <a:latin typeface="Calibri"/>
              </a:rPr>
              <a:t>Cloud &amp; Storage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1609344"/>
            <a:ext cx="2423160" cy="0"/>
          </a:xfrm>
          <a:prstGeom prst="line">
            <a:avLst/>
          </a:prstGeom>
          <a:ln w="6350">
            <a:solidFill>
              <a:srgbClr val="4A5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6928" y="1719072"/>
            <a:ext cx="2386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Google BigQuery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066544"/>
            <a:ext cx="23865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Analytical warehouse  ·  partitioned + clustered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770632"/>
            <a:ext cx="2386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Google Cloud 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118104"/>
            <a:ext cx="23865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Raw CSV source files  ·  pipeline artefacts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822192"/>
            <a:ext cx="2386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GitHub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169664"/>
            <a:ext cx="23865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CI/CD  ·  4 workflows  ·  daily cron + PR 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873752"/>
            <a:ext cx="2386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GitHub Pages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221224"/>
            <a:ext cx="23865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Static dashboard hosting  ·  deploy-dashboard.yml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9272" y="1170432"/>
            <a:ext cx="2606040" cy="502920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19272" y="1170432"/>
            <a:ext cx="2606040" cy="457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1234440"/>
            <a:ext cx="2386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ECF8E"/>
                </a:solidFill>
                <a:latin typeface="Calibri"/>
              </a:rPr>
              <a:t>Data Pipeline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410712" y="1609344"/>
            <a:ext cx="2423160" cy="0"/>
          </a:xfrm>
          <a:prstGeom prst="line">
            <a:avLst/>
          </a:prstGeom>
          <a:ln w="6350">
            <a:solidFill>
              <a:srgbClr val="4A5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429000" y="1719072"/>
            <a:ext cx="2386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dbt-core 1.10 + dbt-bigquery 1.11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2066544"/>
            <a:ext cx="23865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ELT transformation  ·  9 staging + 7 mart models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2770632"/>
            <a:ext cx="2386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Meltano 4.0 + tap-csv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3118104"/>
            <a:ext cx="23865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Singer ELT protocol  ·  all-STRING schema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3822192"/>
            <a:ext cx="2386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Python (pandas + pyarrow)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169664"/>
            <a:ext cx="23865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Custom ingest  ·  WRITE_TRUNCATE  ·  DQ 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4873752"/>
            <a:ext cx="2386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ruff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5221224"/>
            <a:ext cx="23865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Linting + formatting  ·  enforced in CI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81344" y="1170432"/>
            <a:ext cx="2606040" cy="502920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81344" y="1170432"/>
            <a:ext cx="260604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1072" y="1234440"/>
            <a:ext cx="2386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Calibri"/>
              </a:rPr>
              <a:t>Orchestration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72784" y="1609344"/>
            <a:ext cx="2423160" cy="0"/>
          </a:xfrm>
          <a:prstGeom prst="line">
            <a:avLst/>
          </a:prstGeom>
          <a:ln w="6350">
            <a:solidFill>
              <a:srgbClr val="4A5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291072" y="1719072"/>
            <a:ext cx="2386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Dagster 1.12 + dagster-dbt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1072" y="2066544"/>
            <a:ext cx="23865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Asset-based orchestration  ·  schedules + sensors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1072" y="2770632"/>
            <a:ext cx="2386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GitHub Actions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91072" y="3118104"/>
            <a:ext cx="23865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CI/CD  ·  daily cron 02:00 SGT  ·  4 workflows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1072" y="3822192"/>
            <a:ext cx="2386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run_pipeline.sh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1072" y="4169664"/>
            <a:ext cx="23865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Local end-to-end runner  ·  7-step idempotent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1072" y="4873752"/>
            <a:ext cx="2386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dagster-webserver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91072" y="5221224"/>
            <a:ext cx="23865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Observability UI  ·  localhost:3000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43416" y="1170432"/>
            <a:ext cx="2606040" cy="502920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43416" y="1170432"/>
            <a:ext cx="260604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53144" y="1234440"/>
            <a:ext cx="2386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Calibri"/>
              </a:rPr>
              <a:t>Analytics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134856" y="1609344"/>
            <a:ext cx="2423160" cy="0"/>
          </a:xfrm>
          <a:prstGeom prst="line">
            <a:avLst/>
          </a:prstGeom>
          <a:ln w="6350">
            <a:solidFill>
              <a:srgbClr val="4A5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153144" y="1719072"/>
            <a:ext cx="2386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Python: pandas, numpy, seaborn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53144" y="2066544"/>
            <a:ext cx="23865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EDA  ·  RFM  ·  CLV  ·  8 chart outputs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53144" y="2770632"/>
            <a:ext cx="2386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Plotly + matplotlib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53144" y="3118104"/>
            <a:ext cx="23865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Interactive + static visualisations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53144" y="3822192"/>
            <a:ext cx="2386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JupyterLab 4.2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53144" y="4169664"/>
            <a:ext cx="23865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Exploratory notebook environment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53144" y="4873752"/>
            <a:ext cx="2386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DuckDB 1.4.3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53144" y="5221224"/>
            <a:ext cx="23865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Dagster I/O manager  ·  local OLAP  ·  no BigQuery cost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967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5F80"/>
                </a:solidFill>
                <a:latin typeface="Calibri"/>
              </a:rPr>
              <a:t>CONFIDENTIAL  ·  Olist Analytics Platform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Business Value &amp; ROI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Quantified opportunities identified by the platform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6350">
            <a:solidFill>
              <a:srgbClr val="4A5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170432"/>
            <a:ext cx="5303520" cy="146304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5303520" cy="45720"/>
          </a:xfrm>
          <a:prstGeom prst="rect">
            <a:avLst/>
          </a:prstGeom>
          <a:solidFill>
            <a:srgbClr val="F0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5252"/>
                </a:solidFill>
                <a:latin typeface="Calibri"/>
              </a:rPr>
              <a:t>Before this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✗  Manual CSV queries  ·  no shared schema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5623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✗  No DQ guarantees  ·  no quality gates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1226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✗  23K at-risk customers — unidentified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36829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✗  Channel ROI gap — invisible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170432"/>
            <a:ext cx="5760720" cy="146304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170432"/>
            <a:ext cx="5760720" cy="457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2344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ECF8E"/>
                </a:solidFill>
                <a:latin typeface="Calibri"/>
              </a:rPr>
              <a:t>After this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60020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✓  Daily automated pipeline  ·  sub-5s BQ queries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185623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✓  181+ DQ checks  ·  98%+ pass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11226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✓  RFM segments  ·  precision re-targeting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36829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alibri"/>
              </a:rPr>
              <a:t>✓  Channel attribution  ·  paid search 12.3% CVR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16352"/>
            <a:ext cx="3520440" cy="141732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816352"/>
            <a:ext cx="3520440" cy="457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290779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2E8F0"/>
                </a:solidFill>
                <a:latin typeface="Calibri"/>
              </a:rPr>
              <a:t>Loyalty Programme
3% → 8% repeat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2907792"/>
            <a:ext cx="1399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3ECF8E"/>
                </a:solidFill>
                <a:latin typeface="Calibri"/>
              </a:rPr>
              <a:t>~R$650K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566160"/>
            <a:ext cx="33009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incremental GMV at current AOV · 4,800 additional repeat customers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33672" y="2816352"/>
            <a:ext cx="3520440" cy="141732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33672" y="2816352"/>
            <a:ext cx="352044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290779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2E8F0"/>
                </a:solidFill>
                <a:latin typeface="Calibri"/>
              </a:rPr>
              <a:t>At-Risk Win-Back
23K customers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2907792"/>
            <a:ext cx="1399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F5A623"/>
                </a:solidFill>
                <a:latin typeface="Calibri"/>
              </a:rPr>
              <a:t>~R$300K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3566160"/>
            <a:ext cx="33009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recoverable revenue at 5% re-activation rate · email win-back series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10144" y="2816352"/>
            <a:ext cx="3520440" cy="141732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10144" y="2816352"/>
            <a:ext cx="3520440" cy="45720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19872" y="290779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2E8F0"/>
                </a:solidFill>
                <a:latin typeface="Calibri"/>
              </a:rPr>
              <a:t>Marketing Reallocation
Paid search 12.3% CVR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21824" y="2907792"/>
            <a:ext cx="1399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2B7EF1"/>
                </a:solidFill>
                <a:latin typeface="Calibri"/>
              </a:rPr>
              <a:t>~2× ROI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9872" y="3566160"/>
            <a:ext cx="33009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doubling paid search budget vs email at current conversion differential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398264"/>
            <a:ext cx="3520440" cy="141732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4398264"/>
            <a:ext cx="352044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4489704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2E8F0"/>
                </a:solidFill>
                <a:latin typeface="Calibri"/>
              </a:rPr>
              <a:t>Carrier SLA Renegotiation
8.1% late delivery tail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880" y="4489704"/>
            <a:ext cx="1399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38BDF8"/>
                </a:solidFill>
                <a:latin typeface="Calibri"/>
              </a:rPr>
              <a:t>+0.5 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5148072"/>
            <a:ext cx="33009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review score uplift · frontier states gain P90 ≤ 20 days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33672" y="4398264"/>
            <a:ext cx="3520440" cy="141732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33672" y="4398264"/>
            <a:ext cx="352044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43400" y="4489704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2E8F0"/>
                </a:solidFill>
                <a:latin typeface="Calibri"/>
              </a:rPr>
              <a:t>Category Partnerships
Health &amp; Beauty + Watches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45352" y="4489704"/>
            <a:ext cx="1399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A78BFA"/>
                </a:solidFill>
                <a:latin typeface="Calibri"/>
              </a:rPr>
              <a:t>+15% GMV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43400" y="5148072"/>
            <a:ext cx="33009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exclusive seller agreements for top-2 categories (18.5% of GMV)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10144" y="4398264"/>
            <a:ext cx="3520440" cy="141732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10144" y="4398264"/>
            <a:ext cx="3520440" cy="45720"/>
          </a:xfrm>
          <a:prstGeom prst="rect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19872" y="4489704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2E8F0"/>
                </a:solidFill>
                <a:latin typeface="Calibri"/>
              </a:rPr>
              <a:t>Phase 2: BG/NBD CLV
Probabilistic churn model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21824" y="4489704"/>
            <a:ext cx="1399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5BA3F5"/>
                </a:solidFill>
                <a:latin typeface="Calibri"/>
              </a:rPr>
              <a:t>Predictive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19872" y="5148072"/>
            <a:ext cx="33009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customer-level CLV forecast · targeted intervention per segment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967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5F80"/>
                </a:solidFill>
                <a:latin typeface="Calibri"/>
              </a:rPr>
              <a:t>CONFIDENTIAL  ·  Olist Analytics Platform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Recommendations &amp;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Immediate actions · 6-month priorities · 12-month vision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6350">
            <a:solidFill>
              <a:srgbClr val="4A5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1170432"/>
            <a:ext cx="3520440" cy="502920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352044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Calibri"/>
              </a:rPr>
              <a:t>Immediate
(0–30 days)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1828800"/>
            <a:ext cx="3337560" cy="0"/>
          </a:xfrm>
          <a:prstGeom prst="line">
            <a:avLst/>
          </a:prstGeom>
          <a:ln w="6350">
            <a:solidFill>
              <a:srgbClr val="4A5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60" y="19202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Launch at-risk win-back campaign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28600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23K customers  ·  email series  ·  ~R$300K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4436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5A623"/>
                </a:solidFill>
                <a:latin typeface="Calibri"/>
              </a:rPr>
              <a:t>Owner: CMO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2918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Reallocate paid search budget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65760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Double paid search vs email based on 12.3% vs 3.0% CVR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31596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5A623"/>
                </a:solidFill>
                <a:latin typeface="Calibri"/>
              </a:rPr>
              <a:t>Owner: VP Marketing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6634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Initiate carrier SLA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02920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Frontier states: AM, RR, AP P90 &gt; 40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68756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5A623"/>
                </a:solidFill>
                <a:latin typeface="Calibri"/>
              </a:rPr>
              <a:t>Owner: COO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33672" y="1170432"/>
            <a:ext cx="3520440" cy="502920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33672" y="1170432"/>
            <a:ext cx="3520440" cy="457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0832" y="123444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ECF8E"/>
                </a:solidFill>
                <a:latin typeface="Calibri"/>
              </a:rPr>
              <a:t>Short-Term
(1–6 months)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325112" y="1828800"/>
            <a:ext cx="3337560" cy="0"/>
          </a:xfrm>
          <a:prstGeom prst="line">
            <a:avLst/>
          </a:prstGeom>
          <a:ln w="6350">
            <a:solidFill>
              <a:srgbClr val="4A5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370832" y="19202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Launch loyalty programme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0832" y="228600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Target: repeat rate 3% → 8%  ·  R$650K incremental 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2" y="294436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ECF8E"/>
                </a:solidFill>
                <a:latin typeface="Calibri"/>
              </a:rPr>
              <a:t>Owner: CMO/CRO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0832" y="32918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Category exclusive partnerships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0832" y="365760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Health &amp; Beauty + Watches: 18.5% GMV from &lt;5% SKUs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0832" y="431596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ECF8E"/>
                </a:solidFill>
                <a:latin typeface="Calibri"/>
              </a:rPr>
              <a:t>Owner: CPO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2" y="46634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Seller coaching programme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0832" y="502920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Tier 3→2 migration: 38% of sellers need performance uplift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70832" y="568756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ECF8E"/>
                </a:solidFill>
                <a:latin typeface="Calibri"/>
              </a:rPr>
              <a:t>Owner: VP Seller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10144" y="1170432"/>
            <a:ext cx="3520440" cy="502920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10144" y="1170432"/>
            <a:ext cx="3520440" cy="45720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47304" y="123444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7EF1"/>
                </a:solidFill>
                <a:latin typeface="Calibri"/>
              </a:rPr>
              <a:t>Strategic
(6–12 months)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101584" y="1828800"/>
            <a:ext cx="3337560" cy="0"/>
          </a:xfrm>
          <a:prstGeom prst="line">
            <a:avLst/>
          </a:prstGeom>
          <a:ln w="6350">
            <a:solidFill>
              <a:srgbClr val="4A5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147304" y="19202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BG/NBD probabilistic CLV 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47304" y="228600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Upgrade from proxy formula  ·  per-customer churn score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47304" y="294436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B7EF1"/>
                </a:solidFill>
                <a:latin typeface="Calibri"/>
              </a:rPr>
              <a:t>Owner: Data Science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47304" y="32918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Real-time streaming pipeline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47304" y="365760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Replace daily batch with CDC + Pub/Sub + BigQuery BI Engine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47304" y="431596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B7EF1"/>
                </a:solidFill>
                <a:latin typeface="Calibri"/>
              </a:rPr>
              <a:t>Owner: Engineering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7304" y="46634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ML-powered demand forecasting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47304" y="502920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Seasonal inventory + GMV prediction for category planning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47304" y="568756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B7EF1"/>
                </a:solidFill>
                <a:latin typeface="Calibri"/>
              </a:rPr>
              <a:t>Owner: Data Science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967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5F80"/>
                </a:solidFill>
                <a:latin typeface="Calibri"/>
              </a:rPr>
              <a:t>CONFIDENTIAL  ·  Olist Analytics Platform  ·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65760"/>
            <a:ext cx="320040" cy="6126480"/>
          </a:xfrm>
          <a:prstGeom prst="rect">
            <a:avLst/>
          </a:prstGeom>
          <a:solidFill>
            <a:srgbClr val="2B7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987552"/>
            <a:ext cx="5029200" cy="0"/>
          </a:xfrm>
          <a:prstGeom prst="line">
            <a:avLst/>
          </a:prstGeom>
          <a:ln w="6350">
            <a:solidFill>
              <a:srgbClr val="4A5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111556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Calibri"/>
              </a:rPr>
              <a:t>We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5394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A production-grade, 5-layer analytics platform on GCP — fully automated, daily-refreshed, with 181+ quality checks.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2257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Calibri"/>
              </a:rPr>
              <a:t>We found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70048"/>
            <a:ext cx="5394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3% repeat rate is the #1 lever. 23K at-risk customers. Paid search outperforms email 4:1. Delivery tail drives 1-star reviews.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2958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Calibri"/>
              </a:rPr>
              <a:t>We recommend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77056"/>
            <a:ext cx="5394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Loyalty programme (R$650K opportunity), win-back campaign (R$300K), paid search reallocation, and carrier SLA renegotiation.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3659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Calibri"/>
              </a:rPr>
              <a:t>Next phase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84064"/>
            <a:ext cx="5394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BG/NBD probabilistic CLV, real-time CDC streaming, and ML demand forecasting within 12 months.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457200"/>
            <a:ext cx="5212080" cy="5897880"/>
          </a:xfrm>
          <a:prstGeom prst="rect">
            <a:avLst/>
          </a:prstGeom>
          <a:solidFill>
            <a:srgbClr val="15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457200"/>
            <a:ext cx="52120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5669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Questions &amp; Answers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10515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8BDF8"/>
                </a:solidFill>
                <a:latin typeface="Calibri"/>
              </a:rPr>
              <a:t>5 minutes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66560" y="1444752"/>
            <a:ext cx="4663440" cy="0"/>
          </a:xfrm>
          <a:prstGeom prst="line">
            <a:avLst/>
          </a:prstGeom>
          <a:ln w="6350">
            <a:solidFill>
              <a:srgbClr val="4A5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766560" y="155448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Calibri"/>
              </a:rPr>
              <a:t>Suggested topics: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1901952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▸  Architecture trade-offs &amp; scalability path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377440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▸  CLV model methodology (Phase 1 vs BG/NBD)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852928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▸  Data quality framework &amp; failure handling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328416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▸  Dagster vs Airflow orchestration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803904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▸  BigQuery star schema partitioning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279392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▸  Marketing funnel B2B to GMV attribution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754880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▸  Geographic concentration &amp; frontier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32180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F80"/>
                </a:solidFill>
                <a:latin typeface="Calibri"/>
              </a:rPr>
              <a:t>docs/platform_architecture.html
docs/olist_techlog.html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349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A3F5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